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matic SC"/>
      <p:regular r:id="rId14"/>
      <p:bold r:id="rId15"/>
    </p:embeddedFont>
    <p:embeddedFont>
      <p:font typeface="Source Code Pro"/>
      <p:regular r:id="rId16"/>
      <p:bold r:id="rId17"/>
      <p:italic r:id="rId18"/>
      <p:boldItalic r:id="rId19"/>
    </p:embeddedFont>
    <p:embeddedFont>
      <p:font typeface="Comforta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bold.fntdata"/><Relationship Id="rId14" Type="http://schemas.openxmlformats.org/officeDocument/2006/relationships/font" Target="fonts/AmaticSC-regular.fntdata"/><Relationship Id="rId17" Type="http://schemas.openxmlformats.org/officeDocument/2006/relationships/font" Target="fonts/SourceCodePro-bold.fntdata"/><Relationship Id="rId16" Type="http://schemas.openxmlformats.org/officeDocument/2006/relationships/font" Target="fonts/SourceCodePr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bold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a3c898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a3c8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bb5733850_0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bb573385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bb5733850_0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bb573385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hyperlink" Target="https://www.figma.com/proto/7whAVoiaY3yX72eTBVGQsh/E-COMMERCE---GROCERY-APP?node-id=53-2&amp;t=gMmHCTOl75pDqsCd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640375" y="801075"/>
            <a:ext cx="4960200" cy="8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78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Super Shoppe</a:t>
            </a:r>
            <a:r>
              <a:rPr lang="en" sz="5778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r</a:t>
            </a:r>
            <a:r>
              <a:rPr lang="en" sz="5778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5778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103225" y="2396725"/>
            <a:ext cx="3874200" cy="8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44">
                <a:latin typeface="Comfortaa"/>
                <a:ea typeface="Comfortaa"/>
                <a:cs typeface="Comfortaa"/>
                <a:sym typeface="Comfortaa"/>
              </a:rPr>
              <a:t>Seamless Navigation and Micro-interactions for Modern Mobile Commerce</a:t>
            </a:r>
            <a:endParaRPr sz="4744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7428" l="7064" r="7728" t="7675"/>
          <a:stretch/>
        </p:blipFill>
        <p:spPr>
          <a:xfrm>
            <a:off x="6076500" y="0"/>
            <a:ext cx="30675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58425" y="1612600"/>
            <a:ext cx="53241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High-Fidelity </a:t>
            </a:r>
            <a:r>
              <a:rPr lang="en">
                <a:latin typeface="Comfortaa"/>
                <a:ea typeface="Comfortaa"/>
                <a:cs typeface="Comfortaa"/>
                <a:sym typeface="Comfortaa"/>
              </a:rPr>
              <a:t>ECommerce</a:t>
            </a:r>
            <a:r>
              <a:rPr lang="en">
                <a:latin typeface="Comfortaa"/>
                <a:ea typeface="Comfortaa"/>
                <a:cs typeface="Comfortaa"/>
                <a:sym typeface="Comfortaa"/>
              </a:rPr>
              <a:t> UX/UI Case Study</a:t>
            </a:r>
            <a:r>
              <a:rPr lang="en"/>
              <a:t>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46875" y="3992375"/>
            <a:ext cx="5586900" cy="88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Objective:</a:t>
            </a:r>
            <a:r>
              <a:rPr b="0" lang="en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Creating an end-to-end shopping jour</a:t>
            </a:r>
            <a:r>
              <a:rPr b="0" lang="en" sz="22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ney with a focus on user feedback and logical flow</a:t>
            </a:r>
            <a:r>
              <a:rPr b="0" lang="en" sz="22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5844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The Problem &amp; Solution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228675"/>
            <a:ext cx="7909200" cy="6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Problem:</a:t>
            </a:r>
            <a:r>
              <a:rPr lang="en" sz="7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Users often feel overwhelmed by diverse e-commerce categories, leading to high drop-off rates during the search and checkout phase</a:t>
            </a:r>
            <a:endParaRPr sz="7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35300" y="2191675"/>
            <a:ext cx="3606000" cy="26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Comfortaa"/>
                <a:ea typeface="Comfortaa"/>
                <a:cs typeface="Comfortaa"/>
                <a:sym typeface="Comfortaa"/>
              </a:rPr>
              <a:t>Solution:</a:t>
            </a:r>
            <a:endParaRPr b="1" sz="2100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Designed a centralized 3-line menu for rapid category access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Implemented global "Home" navigation to ensure zero-point failure in the user journey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Built state-driven feedback (animated likes/verifications) to increase user confidence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3985" t="0"/>
          <a:stretch/>
        </p:blipFill>
        <p:spPr>
          <a:xfrm>
            <a:off x="4485275" y="2398500"/>
            <a:ext cx="4266250" cy="14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73" name="Google Shape;73;p15"/>
          <p:cNvSpPr/>
          <p:nvPr/>
        </p:nvSpPr>
        <p:spPr>
          <a:xfrm>
            <a:off x="113634" y="1917600"/>
            <a:ext cx="1872300" cy="745500"/>
          </a:xfrm>
          <a:prstGeom prst="homePlate">
            <a:avLst>
              <a:gd fmla="val 50000" name="adj"/>
            </a:avLst>
          </a:prstGeom>
          <a:solidFill>
            <a:srgbClr val="4A86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4294967295" type="body"/>
          </p:nvPr>
        </p:nvSpPr>
        <p:spPr>
          <a:xfrm>
            <a:off x="113623" y="2055150"/>
            <a:ext cx="1455600" cy="470400"/>
          </a:xfrm>
          <a:prstGeom prst="rect">
            <a:avLst/>
          </a:prstGeom>
          <a:solidFill>
            <a:srgbClr val="4A86E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HOME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 txBox="1"/>
          <p:nvPr>
            <p:ph idx="4294967295" type="body"/>
          </p:nvPr>
        </p:nvSpPr>
        <p:spPr>
          <a:xfrm>
            <a:off x="203700" y="950100"/>
            <a:ext cx="83169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-32488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6065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Global Navigation:</a:t>
            </a:r>
            <a:r>
              <a:rPr lang="en" sz="6065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Persistent "Home" and "Menu" access across all screens</a:t>
            </a:r>
            <a:endParaRPr sz="6065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2488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6065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Categorical Depth:</a:t>
            </a:r>
            <a:r>
              <a:rPr lang="en" sz="6065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Logical grouping from "Fresh Produce" to "Personal Care"</a:t>
            </a:r>
            <a:endParaRPr sz="1600"/>
          </a:p>
        </p:txBody>
      </p:sp>
      <p:sp>
        <p:nvSpPr>
          <p:cNvPr descr="Background pointer shape in timeline graphic" id="76" name="Google Shape;76;p15"/>
          <p:cNvSpPr/>
          <p:nvPr/>
        </p:nvSpPr>
        <p:spPr>
          <a:xfrm>
            <a:off x="1589754" y="1917600"/>
            <a:ext cx="2051100" cy="745500"/>
          </a:xfrm>
          <a:prstGeom prst="chevron">
            <a:avLst>
              <a:gd fmla="val 50000" name="adj"/>
            </a:avLst>
          </a:prstGeom>
          <a:solidFill>
            <a:srgbClr val="4A86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idx="4294967295" type="body"/>
          </p:nvPr>
        </p:nvSpPr>
        <p:spPr>
          <a:xfrm>
            <a:off x="1899017" y="2055150"/>
            <a:ext cx="1315500" cy="470400"/>
          </a:xfrm>
          <a:prstGeom prst="rect">
            <a:avLst/>
          </a:prstGeom>
          <a:solidFill>
            <a:srgbClr val="4A86E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CATEGORY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descr="Background pointer shape in timeline graphic" id="78" name="Google Shape;78;p15"/>
          <p:cNvSpPr/>
          <p:nvPr/>
        </p:nvSpPr>
        <p:spPr>
          <a:xfrm>
            <a:off x="3244673" y="1917600"/>
            <a:ext cx="2051100" cy="745500"/>
          </a:xfrm>
          <a:prstGeom prst="chevron">
            <a:avLst>
              <a:gd fmla="val 50000" name="adj"/>
            </a:avLst>
          </a:prstGeom>
          <a:solidFill>
            <a:srgbClr val="4A86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idx="4294967295" type="body"/>
          </p:nvPr>
        </p:nvSpPr>
        <p:spPr>
          <a:xfrm>
            <a:off x="3540455" y="2055150"/>
            <a:ext cx="1315500" cy="470400"/>
          </a:xfrm>
          <a:prstGeom prst="rect">
            <a:avLst/>
          </a:prstGeom>
          <a:solidFill>
            <a:srgbClr val="4A86E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PRODUCT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descr="Background pointer shape in timeline graphic" id="80" name="Google Shape;80;p15"/>
          <p:cNvSpPr/>
          <p:nvPr/>
        </p:nvSpPr>
        <p:spPr>
          <a:xfrm>
            <a:off x="4899593" y="1917600"/>
            <a:ext cx="2051100" cy="745500"/>
          </a:xfrm>
          <a:prstGeom prst="chevron">
            <a:avLst>
              <a:gd fmla="val 50000" name="adj"/>
            </a:avLst>
          </a:prstGeom>
          <a:solidFill>
            <a:srgbClr val="4A86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4294967295" type="body"/>
          </p:nvPr>
        </p:nvSpPr>
        <p:spPr>
          <a:xfrm>
            <a:off x="5189399" y="2055150"/>
            <a:ext cx="1315500" cy="470400"/>
          </a:xfrm>
          <a:prstGeom prst="rect">
            <a:avLst/>
          </a:prstGeom>
          <a:solidFill>
            <a:srgbClr val="4A86E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CART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descr="Background pointer shape in timeline graphic" id="82" name="Google Shape;82;p15"/>
          <p:cNvSpPr/>
          <p:nvPr/>
        </p:nvSpPr>
        <p:spPr>
          <a:xfrm>
            <a:off x="6554513" y="1917600"/>
            <a:ext cx="2051100" cy="745500"/>
          </a:xfrm>
          <a:prstGeom prst="chevron">
            <a:avLst>
              <a:gd fmla="val 50000" name="adj"/>
            </a:avLst>
          </a:prstGeom>
          <a:solidFill>
            <a:srgbClr val="4A86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idx="4294967295" type="body"/>
          </p:nvPr>
        </p:nvSpPr>
        <p:spPr>
          <a:xfrm>
            <a:off x="6922337" y="2055150"/>
            <a:ext cx="1315500" cy="470400"/>
          </a:xfrm>
          <a:prstGeom prst="rect">
            <a:avLst/>
          </a:prstGeom>
          <a:solidFill>
            <a:srgbClr val="4A86E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CHECKOUT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70175" y="220800"/>
            <a:ext cx="7890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288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The Seamless Path to Purchase  </a:t>
            </a:r>
            <a:endParaRPr sz="2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19662" l="0" r="0" t="14777"/>
          <a:stretch/>
        </p:blipFill>
        <p:spPr>
          <a:xfrm>
            <a:off x="1134725" y="2842725"/>
            <a:ext cx="6874548" cy="187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80">
                <a:latin typeface="Comfortaa"/>
                <a:ea typeface="Comfortaa"/>
                <a:cs typeface="Comfortaa"/>
                <a:sym typeface="Comfortaa"/>
              </a:rPr>
              <a:t>Micro-interactions that Build Confidence </a:t>
            </a:r>
            <a:endParaRPr sz="2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958075"/>
            <a:ext cx="8520600" cy="15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06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Comfortaa"/>
              <a:buChar char="●"/>
            </a:pPr>
            <a:r>
              <a:rPr lang="en" sz="179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❤️ Like button → visual feedback for wishlist</a:t>
            </a:r>
            <a:endParaRPr sz="179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06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Comfortaa"/>
              <a:buChar char="●"/>
            </a:pPr>
            <a:r>
              <a:rPr lang="en" sz="179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🔐 Payment verification → simulates real transaction flow</a:t>
            </a:r>
            <a:endParaRPr sz="179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06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Comfortaa"/>
              <a:buChar char="●"/>
            </a:pPr>
            <a:r>
              <a:rPr lang="en" sz="179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🔍 Product cards → deep navigation without losing context</a:t>
            </a:r>
            <a:endParaRPr sz="179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06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Comfortaa"/>
              <a:buChar char="●"/>
            </a:pPr>
            <a:r>
              <a:rPr lang="en" sz="179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🧭 Consistent navigation → no dead ends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125" y="2341050"/>
            <a:ext cx="4965742" cy="20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311700" y="4636950"/>
            <a:ext cx="862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Each interaction reinforces user confidence and reduces uncertainty</a:t>
            </a:r>
            <a:r>
              <a:rPr lang="en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8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latin typeface="Comfortaa"/>
                <a:ea typeface="Comfortaa"/>
                <a:cs typeface="Comfortaa"/>
                <a:sym typeface="Comfortaa"/>
              </a:rPr>
              <a:t>Beyond UI — Thinking in Systems </a:t>
            </a:r>
            <a:endParaRPr sz="30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162700" y="1020575"/>
            <a:ext cx="2158800" cy="150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60000" dist="76200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13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13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  </a:t>
            </a:r>
            <a:endParaRPr sz="913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Trackable Events</a:t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Product clicks</a:t>
            </a:r>
            <a:br>
              <a:rPr b="1" lang="en" sz="1100"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 Cart interactions</a:t>
            </a:r>
            <a:br>
              <a:rPr b="1" lang="en" sz="1100"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 Checkout drop-offs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13">
                <a:latin typeface="Comfortaa"/>
                <a:ea typeface="Comfortaa"/>
                <a:cs typeface="Comfortaa"/>
                <a:sym typeface="Comfortaa"/>
              </a:rPr>
              <a:t>     </a:t>
            </a:r>
            <a:endParaRPr b="1" sz="913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13">
                <a:latin typeface="Comfortaa"/>
                <a:ea typeface="Comfortaa"/>
                <a:cs typeface="Comfortaa"/>
                <a:sym typeface="Comfortaa"/>
              </a:rPr>
              <a:t>     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6673500" y="1066050"/>
            <a:ext cx="2158800" cy="150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60000" dist="76200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    Design Structure</a:t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 Modular components</a:t>
            </a:r>
            <a:br>
              <a:rPr b="1" lang="en" sz="1100"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 Reusable UI patterns</a:t>
            </a:r>
            <a:br>
              <a:rPr b="1" lang="en" sz="1100"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 Consistent layout system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13">
                <a:latin typeface="Comfortaa"/>
                <a:ea typeface="Comfortaa"/>
                <a:cs typeface="Comfortaa"/>
                <a:sym typeface="Comfortaa"/>
              </a:rPr>
              <a:t>            </a:t>
            </a:r>
            <a:endParaRPr sz="913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13">
                <a:latin typeface="Comfortaa"/>
                <a:ea typeface="Comfortaa"/>
                <a:cs typeface="Comfortaa"/>
                <a:sym typeface="Comfortaa"/>
              </a:rPr>
              <a:t>     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62700" y="2869650"/>
            <a:ext cx="2158800" cy="150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60000" dist="76200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User Experience Focus</a:t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Clear visual hierarchy</a:t>
            </a:r>
            <a:br>
              <a:rPr b="1" lang="en" sz="1100"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 Accessible typography</a:t>
            </a:r>
            <a:br>
              <a:rPr b="1" lang="en" sz="1100"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 Guided navigation flow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13">
                <a:latin typeface="Comfortaa"/>
                <a:ea typeface="Comfortaa"/>
                <a:cs typeface="Comfortaa"/>
                <a:sym typeface="Comfortaa"/>
              </a:rPr>
              <a:t>            </a:t>
            </a:r>
            <a:endParaRPr sz="913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13">
                <a:latin typeface="Comfortaa"/>
                <a:ea typeface="Comfortaa"/>
                <a:cs typeface="Comfortaa"/>
                <a:sym typeface="Comfortaa"/>
              </a:rPr>
              <a:t>     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766900" y="2952075"/>
            <a:ext cx="2158800" cy="150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60000" dist="76200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13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Data Potential</a:t>
            </a:r>
            <a:br>
              <a:rPr b="1" lang="en" sz="1000"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00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Behavior-driven recommendations </a:t>
            </a: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 Conversion optimization through user insights 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13">
                <a:latin typeface="Comfortaa"/>
                <a:ea typeface="Comfortaa"/>
                <a:cs typeface="Comfortaa"/>
                <a:sym typeface="Comfortaa"/>
              </a:rPr>
              <a:t>            </a:t>
            </a:r>
            <a:endParaRPr sz="913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13">
                <a:latin typeface="Comfortaa"/>
                <a:ea typeface="Comfortaa"/>
                <a:cs typeface="Comfortaa"/>
                <a:sym typeface="Comfortaa"/>
              </a:rPr>
              <a:t>     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4897" r="3234" t="0"/>
          <a:stretch/>
        </p:blipFill>
        <p:spPr>
          <a:xfrm>
            <a:off x="4746025" y="980650"/>
            <a:ext cx="1621200" cy="3744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5637" y="1025361"/>
            <a:ext cx="1694400" cy="365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latin typeface="Comfortaa"/>
                <a:ea typeface="Comfortaa"/>
                <a:cs typeface="Comfortaa"/>
                <a:sym typeface="Comfortaa"/>
              </a:rPr>
              <a:t>Prototype Scope &amp; Simulation Strategy </a:t>
            </a:r>
            <a:endParaRPr sz="30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5695525" y="929100"/>
            <a:ext cx="2554425" cy="3015550"/>
          </a:xfrm>
          <a:prstGeom prst="flowChartProcess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60000" dist="76200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What’s Simulated</a:t>
            </a:r>
            <a:endParaRPr b="1" sz="28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Comfortaa"/>
              <a:buChar char="●"/>
            </a:pPr>
            <a:r>
              <a:rPr lang="en" sz="1600">
                <a:latin typeface="Comfortaa"/>
                <a:ea typeface="Comfortaa"/>
                <a:cs typeface="Comfortaa"/>
                <a:sym typeface="Comfortaa"/>
              </a:rPr>
              <a:t>Cart persistence (no backend)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Char char="●"/>
            </a:pPr>
            <a:r>
              <a:rPr lang="en" sz="1600">
                <a:latin typeface="Comfortaa"/>
                <a:ea typeface="Comfortaa"/>
                <a:cs typeface="Comfortaa"/>
                <a:sym typeface="Comfortaa"/>
              </a:rPr>
              <a:t>Payment verification logic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111" name="Google Shape;111;p18"/>
          <p:cNvSpPr/>
          <p:nvPr/>
        </p:nvSpPr>
        <p:spPr>
          <a:xfrm>
            <a:off x="760700" y="951175"/>
            <a:ext cx="2554425" cy="2971400"/>
          </a:xfrm>
          <a:prstGeom prst="flowChartProcess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60000" dist="76200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What’s Implemented</a:t>
            </a:r>
            <a:endParaRPr b="1" sz="19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Comfortaa"/>
              <a:buChar char="●"/>
            </a:pPr>
            <a:r>
              <a:rPr lang="en" sz="1600">
                <a:latin typeface="Comfortaa"/>
                <a:ea typeface="Comfortaa"/>
                <a:cs typeface="Comfortaa"/>
                <a:sym typeface="Comfortaa"/>
              </a:rPr>
              <a:t>Full navigation flow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Char char="●"/>
            </a:pPr>
            <a:r>
              <a:rPr lang="en" sz="1600">
                <a:latin typeface="Comfortaa"/>
                <a:ea typeface="Comfortaa"/>
                <a:cs typeface="Comfortaa"/>
                <a:sym typeface="Comfortaa"/>
              </a:rPr>
              <a:t>Interactive elements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Char char="●"/>
            </a:pPr>
            <a:r>
              <a:rPr lang="en" sz="1600">
                <a:latin typeface="Comfortaa"/>
                <a:ea typeface="Comfortaa"/>
                <a:cs typeface="Comfortaa"/>
                <a:sym typeface="Comfortaa"/>
              </a:rPr>
              <a:t>Multi-step checkout simulation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020000" y="2060850"/>
            <a:ext cx="1104000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VS</a:t>
            </a:r>
            <a:endParaRPr b="1" sz="48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1011000" y="4196950"/>
            <a:ext cx="7122000" cy="7773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The prototype focuses on user flow and interaction design, while backend logic is intentionally simulated.”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359350" y="253275"/>
            <a:ext cx="817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What This Project Demonstrates</a:t>
            </a:r>
            <a:endParaRPr b="1" sz="288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8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288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162700" y="1020575"/>
            <a:ext cx="2404800" cy="178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60000" dist="76200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13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13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  </a:t>
            </a:r>
            <a:endParaRPr sz="913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Impact</a:t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100% navigable prototype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Zero dead-end screens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Realistic e-commerce flow simulation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13">
                <a:latin typeface="Comfortaa"/>
                <a:ea typeface="Comfortaa"/>
                <a:cs typeface="Comfortaa"/>
                <a:sym typeface="Comfortaa"/>
              </a:rPr>
              <a:t>     </a:t>
            </a:r>
            <a:endParaRPr b="1" sz="913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13">
                <a:latin typeface="Comfortaa"/>
                <a:ea typeface="Comfortaa"/>
                <a:cs typeface="Comfortaa"/>
                <a:sym typeface="Comfortaa"/>
              </a:rPr>
              <a:t>     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2977775" y="1020575"/>
            <a:ext cx="2404800" cy="178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60000" dist="76200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13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13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  </a:t>
            </a:r>
            <a:endParaRPr sz="913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Skills Proven</a:t>
            </a:r>
            <a:endParaRPr b="1" sz="15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UX thinking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Interaction design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Product thinking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Data-aware design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13">
                <a:latin typeface="Comfortaa"/>
                <a:ea typeface="Comfortaa"/>
                <a:cs typeface="Comfortaa"/>
                <a:sym typeface="Comfortaa"/>
              </a:rPr>
              <a:t>     </a:t>
            </a:r>
            <a:endParaRPr b="1" sz="913">
              <a:latin typeface="Comfortaa"/>
              <a:ea typeface="Comfortaa"/>
              <a:cs typeface="Comfortaa"/>
              <a:sym typeface="Comfortaa"/>
            </a:endParaRPr>
          </a:p>
          <a:p>
            <a:pPr indent="9144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13">
                <a:latin typeface="Comfortaa"/>
                <a:ea typeface="Comfortaa"/>
                <a:cs typeface="Comfortaa"/>
                <a:sym typeface="Comfortaa"/>
              </a:rPr>
              <a:t>     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3698"/>
          <a:stretch/>
        </p:blipFill>
        <p:spPr>
          <a:xfrm>
            <a:off x="6691750" y="500075"/>
            <a:ext cx="2038500" cy="442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162700" y="3374325"/>
            <a:ext cx="5929200" cy="961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Learning</a:t>
            </a:r>
            <a:endParaRPr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Designing is not just about screens, but about guiding user decisions.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359350" y="253275"/>
            <a:ext cx="817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Clean multi-screen layout (Home, Cart, Checkout) </a:t>
            </a:r>
            <a:endParaRPr b="1" sz="288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8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13371" l="0" r="4104" t="5788"/>
          <a:stretch/>
        </p:blipFill>
        <p:spPr>
          <a:xfrm>
            <a:off x="207163" y="1294525"/>
            <a:ext cx="8476374" cy="25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16050" y="4009150"/>
            <a:ext cx="81720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LIVE PROTOTYPE LINK : </a:t>
            </a:r>
            <a:r>
              <a:rPr lang="en" sz="18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4"/>
              </a:rPr>
              <a:t>https://www.figma.com/proto/7whAVoiaY3yX72eTBVGQsh/E-COMMERCE---GROCERY-APP?node-id=53-2&amp;t=gMmHCTOl75pDqsCd-1</a:t>
            </a:r>
            <a:endParaRPr sz="18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